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f9efb4d164b96" /><Relationship Type="http://schemas.openxmlformats.org/officeDocument/2006/relationships/extended-properties" Target="/docProps/app.xml" Id="R710f3ddfcbae4e37" /><Relationship Type="http://schemas.openxmlformats.org/officeDocument/2006/relationships/officeDocument" Target="/ppt/presentation.xml" Id="R7417eb5661d845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a304cf7fe94b63"/>
  </p:sldMasterIdLst>
  <p:notesMasterIdLst>
    <p:notesMasterId xmlns:r="http://schemas.openxmlformats.org/officeDocument/2006/relationships" r:id="Re34e02372eb14e43"/>
  </p:notesMasterIdLst>
  <p:sldIdLst>
    <p:sldId xmlns:r="http://schemas.openxmlformats.org/officeDocument/2006/relationships" id="256" r:id="Rd5c05bb870fc49df"/>
    <p:sldId xmlns:r="http://schemas.openxmlformats.org/officeDocument/2006/relationships" id="257" r:id="Rfc1bfd837dce4eef"/>
    <p:sldId xmlns:r="http://schemas.openxmlformats.org/officeDocument/2006/relationships" id="258" r:id="R48ee1ddc08f242e4"/>
    <p:sldId xmlns:r="http://schemas.openxmlformats.org/officeDocument/2006/relationships" id="259" r:id="Rd5862970764b44db"/>
    <p:sldId xmlns:r="http://schemas.openxmlformats.org/officeDocument/2006/relationships" id="260" r:id="R061fa8853e054dab"/>
    <p:sldId xmlns:r="http://schemas.openxmlformats.org/officeDocument/2006/relationships" id="261" r:id="R251c50abeb794b5c"/>
    <p:sldId xmlns:r="http://schemas.openxmlformats.org/officeDocument/2006/relationships" id="262" r:id="R037b4c23aa9244fc"/>
    <p:sldId xmlns:r="http://schemas.openxmlformats.org/officeDocument/2006/relationships" id="263" r:id="Rf6d2ff9c5ab84ec4"/>
    <p:sldId xmlns:r="http://schemas.openxmlformats.org/officeDocument/2006/relationships" id="264" r:id="Rcb11ce35c37a46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90cf0f263a4c43" /><Relationship Type="http://schemas.openxmlformats.org/officeDocument/2006/relationships/slideMaster" Target="/ppt/slideMasters/slideMaster1.xml" Id="R33a304cf7fe94b63" /><Relationship Type="http://schemas.openxmlformats.org/officeDocument/2006/relationships/notesMaster" Target="/ppt/notesMasters/notesMaster1.xml" Id="Re34e02372eb14e43" /><Relationship Type="http://schemas.openxmlformats.org/officeDocument/2006/relationships/presProps" Target="/ppt/presProps.xml" Id="Rf269ecb0aa8f4af7" /><Relationship Type="http://schemas.openxmlformats.org/officeDocument/2006/relationships/tableStyles" Target="/ppt/tableStyles.xml" Id="R66abb650156b4657" /><Relationship Type="http://schemas.openxmlformats.org/officeDocument/2006/relationships/slide" Target="/ppt/slides/slide1.xml" Id="Rd5c05bb870fc49df" /><Relationship Type="http://schemas.openxmlformats.org/officeDocument/2006/relationships/slide" Target="/ppt/slides/slide2.xml" Id="Rfc1bfd837dce4eef" /><Relationship Type="http://schemas.openxmlformats.org/officeDocument/2006/relationships/slide" Target="/ppt/slides/slide3.xml" Id="R48ee1ddc08f242e4" /><Relationship Type="http://schemas.openxmlformats.org/officeDocument/2006/relationships/slide" Target="/ppt/slides/slide4.xml" Id="Rd5862970764b44db" /><Relationship Type="http://schemas.openxmlformats.org/officeDocument/2006/relationships/slide" Target="/ppt/slides/slide5.xml" Id="R061fa8853e054dab" /><Relationship Type="http://schemas.openxmlformats.org/officeDocument/2006/relationships/slide" Target="/ppt/slides/slide6.xml" Id="R251c50abeb794b5c" /><Relationship Type="http://schemas.openxmlformats.org/officeDocument/2006/relationships/slide" Target="/ppt/slides/slide7.xml" Id="R037b4c23aa9244fc" /><Relationship Type="http://schemas.openxmlformats.org/officeDocument/2006/relationships/slide" Target="/ppt/slides/slide8.xml" Id="Rf6d2ff9c5ab84ec4" /><Relationship Type="http://schemas.openxmlformats.org/officeDocument/2006/relationships/slide" Target="/ppt/slides/slide9.xml" Id="Rcb11ce35c37a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2c33ff62e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dbe308b73d4cf7" /><Relationship Type="http://schemas.openxmlformats.org/officeDocument/2006/relationships/notesMaster" Target="/ppt/notesMasters/notesMaster1.xml" Id="Rcd595894bd7e42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6187a12cb544a8" /><Relationship Type="http://schemas.openxmlformats.org/officeDocument/2006/relationships/notesMaster" Target="/ppt/notesMasters/notesMaster1.xml" Id="R2be26d532be449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e15f3acae7470f" /><Relationship Type="http://schemas.openxmlformats.org/officeDocument/2006/relationships/notesMaster" Target="/ppt/notesMasters/notesMaster1.xml" Id="Reda78729aef546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e797df3f9d4f30" /><Relationship Type="http://schemas.openxmlformats.org/officeDocument/2006/relationships/notesMaster" Target="/ppt/notesMasters/notesMaster1.xml" Id="R5ec149432a2949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536ab0dc674196" /><Relationship Type="http://schemas.openxmlformats.org/officeDocument/2006/relationships/notesMaster" Target="/ppt/notesMasters/notesMaster1.xml" Id="Re6d059ca243149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a68200d3ab4f52" /><Relationship Type="http://schemas.openxmlformats.org/officeDocument/2006/relationships/notesMaster" Target="/ppt/notesMasters/notesMaster1.xml" Id="Rc76e58ae33a542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dcd9d08c1e4f14" /><Relationship Type="http://schemas.openxmlformats.org/officeDocument/2006/relationships/notesMaster" Target="/ppt/notesMasters/notesMaster1.xml" Id="R22d4e86263bb41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4705b1a0f84227" /><Relationship Type="http://schemas.openxmlformats.org/officeDocument/2006/relationships/notesMaster" Target="/ppt/notesMasters/notesMaster1.xml" Id="Rf01f79eea70949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4be28688104333" /><Relationship Type="http://schemas.openxmlformats.org/officeDocument/2006/relationships/notesMaster" Target="/ppt/notesMasters/notesMaster1.xml" Id="R911a00c10e4e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a19a44f1a4f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77e598c244dab" /><Relationship Type="http://schemas.openxmlformats.org/officeDocument/2006/relationships/slideLayout" Target="/ppt/slideLayouts/slideLayout1.xml" Id="R60ab8c251af543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ab8c251af543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5386e8c5a410b" /><Relationship Type="http://schemas.openxmlformats.org/officeDocument/2006/relationships/image" Target="/ppt/media/image.png" Id="R82f3cffc3f504b92" /><Relationship Type="http://schemas.openxmlformats.org/officeDocument/2006/relationships/image" Target="/ppt/media/image2.png" Id="R64a6a5e19f16426d" /><Relationship Type="http://schemas.openxmlformats.org/officeDocument/2006/relationships/notesSlide" Target="/ppt/notesSlides/notesSlide1.xml" Id="Rb2b329de3d3f46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29beadaaa4ea8" /><Relationship Type="http://schemas.openxmlformats.org/officeDocument/2006/relationships/notesSlide" Target="/ppt/notesSlides/notesSlide2.xml" Id="Ref4ac629f5da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10d28161d4ef9" /><Relationship Type="http://schemas.openxmlformats.org/officeDocument/2006/relationships/notesSlide" Target="/ppt/notesSlides/notesSlide3.xml" Id="Rdbda06cdcb10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1a03b453446f2" /><Relationship Type="http://schemas.openxmlformats.org/officeDocument/2006/relationships/notesSlide" Target="/ppt/notesSlides/notesSlide4.xml" Id="R9774315da3f547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10fcd71a3440f" /><Relationship Type="http://schemas.openxmlformats.org/officeDocument/2006/relationships/image" Target="/ppt/media/image3.png" Id="R84d006386f7244b7" /><Relationship Type="http://schemas.openxmlformats.org/officeDocument/2006/relationships/notesSlide" Target="/ppt/notesSlides/notesSlide5.xml" Id="R3fc1a51e92fe42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ecc0628cd48fa" /><Relationship Type="http://schemas.openxmlformats.org/officeDocument/2006/relationships/image" Target="/ppt/media/image4.png" Id="R588e99704fc94a62" /><Relationship Type="http://schemas.openxmlformats.org/officeDocument/2006/relationships/notesSlide" Target="/ppt/notesSlides/notesSlide6.xml" Id="R2c7ceed6506247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27d4ebcc54096" /><Relationship Type="http://schemas.openxmlformats.org/officeDocument/2006/relationships/notesSlide" Target="/ppt/notesSlides/notesSlide7.xml" Id="R861bad7baf124a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d20dda5854807" /><Relationship Type="http://schemas.openxmlformats.org/officeDocument/2006/relationships/notesSlide" Target="/ppt/notesSlides/notesSlide8.xml" Id="R975a25b538804b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7b37e3e1a4d92" /><Relationship Type="http://schemas.openxmlformats.org/officeDocument/2006/relationships/image" Target="/ppt/media/image5.png" Id="R7b744384c59345be" /><Relationship Type="http://schemas.openxmlformats.org/officeDocument/2006/relationships/notesSlide" Target="/ppt/notesSlides/notesSlide9.xml" Id="R20fa094ef4a743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id-field">
            <a:extLst xmlns:a="http://schemas.openxmlformats.org/drawingml/2006/main">
              <a:ext uri="{FF2B5EF4-FFF2-40B4-BE49-F238E27FC236}">
                <a16:creationId xmlns:a16="http://schemas.microsoft.com/office/drawing/2014/main" id="{43F8BB77-B74F-4BB0-BCA4-75D9BD5A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00150"/>
            <a:ext cx="28384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3cffc3f504b92"/>
          <a:stretch xmlns:a="http://schemas.openxmlformats.org/drawingml/2006/main"/>
        </p:blipFill>
        <p:spPr>
          <a:xfrm xmlns:a="http://schemas.openxmlformats.org/drawingml/2006/main">
            <a:off x="9201150" y="1695450"/>
            <a:ext cx="1943100" cy="1943100"/>
          </a:xfrm>
          <a:prstGeom xmlns:a="http://schemas.openxmlformats.org/drawingml/2006/main" prst="rect">
            <a:avLst/>
          </a:prstGeom>
        </p:spPr>
      </p:pic>
      <p:sp>
        <p:nvSpPr>
          <p:cNvPr id="3" name="cover-acid-caption">
            <a:extLst xmlns:a="http://schemas.openxmlformats.org/drawingml/2006/main">
              <a:ext uri="{FF2B5EF4-FFF2-40B4-BE49-F238E27FC236}">
                <a16:creationId xmlns:a16="http://schemas.microsoft.com/office/drawing/2014/main" id="{A7F2F92B-C0DE-40BB-ACE5-F4DAD8F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005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12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CAPTAR · ORGANIZAR · VENDER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6a5e19f16426d"/>
          <a:stretch xmlns:a="http://schemas.openxmlformats.org/drawingml/2006/main"/>
        </p:blipFill>
        <p:spPr>
          <a:xfrm xmlns:a="http://schemas.openxmlformats.org/drawingml/2006/main">
            <a:off x="609600" y="459581"/>
            <a:ext cx="2381250" cy="595313"/>
          </a:xfrm>
          <a:prstGeom xmlns:a="http://schemas.openxmlformats.org/drawingml/2006/main" prst="rect">
            <a:avLst/>
          </a:prstGeom>
        </p:spPr>
      </p:pic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7CDDAD5-B6D2-4FBB-ADD1-354AEC79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rPr>
              <a:t>APRESENTAÇÃO COMERCIAL · 2026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35FBA82-CA2D-48AC-8E40-0EF8BB02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570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570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Seus grupos rodando.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570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570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Você vendendo.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2485BCE-5E5D-4A5A-ABD4-234CEC17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rPr>
              <a:t>A central operacional para captar clientes, organizar grupos e manter campanhas em movimento.</a:t>
            </a:r>
          </a:p>
        </p:txBody>
      </p:sp>
      <p:sp>
        <p:nvSpPr>
          <p:cNvPr id="8" name="folio-label-1">
            <a:extLst xmlns:a="http://schemas.openxmlformats.org/drawingml/2006/main">
              <a:ext uri="{FF2B5EF4-FFF2-40B4-BE49-F238E27FC236}">
                <a16:creationId xmlns:a16="http://schemas.microsoft.com/office/drawing/2014/main" id="{2AA4F79F-5318-45A3-BFF0-217286A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9" name="folio-number-1">
            <a:extLst xmlns:a="http://schemas.openxmlformats.org/drawingml/2006/main">
              <a:ext uri="{FF2B5EF4-FFF2-40B4-BE49-F238E27FC236}">
                <a16:creationId xmlns:a16="http://schemas.microsoft.com/office/drawing/2014/main" id="{45724B6B-A6BD-453D-B321-9D3F7D65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1929366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A7F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AB5FCA5A-B137-4981-97AA-D7BD1CF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76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Mais grupos lotados.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Menos trabalho. Mais vendas.</a:t>
            </a:r>
          </a:p>
        </p:txBody>
      </p:sp>
      <p:sp>
        <p:nvSpPr>
          <p:cNvPr id="2" name="promise-positioning">
            <a:extLst xmlns:a="http://schemas.openxmlformats.org/drawingml/2006/main">
              <a:ext uri="{FF2B5EF4-FFF2-40B4-BE49-F238E27FC236}">
                <a16:creationId xmlns:a16="http://schemas.microsoft.com/office/drawing/2014/main" id="{D99C2D60-2843-4DBC-82DC-15147568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19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A Girumo reúne o trabalho que hoje se espalha entre anúncio, página, grupo, publicação e planilha.</a:t>
            </a:r>
          </a:p>
        </p:txBody>
      </p:sp>
      <p:sp>
        <p:nvSpPr>
          <p:cNvPr id="3" name="promise-divider">
            <a:extLst xmlns:a="http://schemas.openxmlformats.org/drawingml/2006/main">
              <a:ext uri="{FF2B5EF4-FFF2-40B4-BE49-F238E27FC236}">
                <a16:creationId xmlns:a16="http://schemas.microsoft.com/office/drawing/2014/main" id="{71183FC9-92FA-4DBC-B676-E7F4916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838200"/>
            <a:ext cx="381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mise-number-1">
            <a:extLst xmlns:a="http://schemas.openxmlformats.org/drawingml/2006/main">
              <a:ext uri="{FF2B5EF4-FFF2-40B4-BE49-F238E27FC236}">
                <a16:creationId xmlns:a16="http://schemas.microsoft.com/office/drawing/2014/main" id="{5A62E785-5105-472A-976D-37D2807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715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01</a:t>
            </a:r>
          </a:p>
        </p:txBody>
      </p:sp>
      <p:sp>
        <p:nvSpPr>
          <p:cNvPr id="5" name="promise-verb-1">
            <a:extLst xmlns:a="http://schemas.openxmlformats.org/drawingml/2006/main">
              <a:ext uri="{FF2B5EF4-FFF2-40B4-BE49-F238E27FC236}">
                <a16:creationId xmlns:a16="http://schemas.microsoft.com/office/drawing/2014/main" id="{E87E0853-CA33-434F-9DC4-F7D5240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382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CAPTA</a:t>
            </a:r>
          </a:p>
        </p:txBody>
      </p:sp>
      <p:sp>
        <p:nvSpPr>
          <p:cNvPr id="6" name="promise-detail-1">
            <a:extLst xmlns:a="http://schemas.openxmlformats.org/drawingml/2006/main">
              <a:ext uri="{FF2B5EF4-FFF2-40B4-BE49-F238E27FC236}">
                <a16:creationId xmlns:a16="http://schemas.microsoft.com/office/drawing/2014/main" id="{18D5D256-0BD1-434E-ABCA-1513EB60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pessoas certas</a:t>
            </a:r>
          </a:p>
        </p:txBody>
      </p:sp>
      <p:sp>
        <p:nvSpPr>
          <p:cNvPr id="7" name="promise-number-2">
            <a:extLst xmlns:a="http://schemas.openxmlformats.org/drawingml/2006/main">
              <a:ext uri="{FF2B5EF4-FFF2-40B4-BE49-F238E27FC236}">
                <a16:creationId xmlns:a16="http://schemas.microsoft.com/office/drawing/2014/main" id="{079A2060-C40A-4C32-A01F-8ACA613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02</a:t>
            </a:r>
          </a:p>
        </p:txBody>
      </p:sp>
      <p:sp>
        <p:nvSpPr>
          <p:cNvPr id="8" name="promise-verb-2">
            <a:extLst xmlns:a="http://schemas.openxmlformats.org/drawingml/2006/main">
              <a:ext uri="{FF2B5EF4-FFF2-40B4-BE49-F238E27FC236}">
                <a16:creationId xmlns:a16="http://schemas.microsoft.com/office/drawing/2014/main" id="{42ED0D9A-5972-4938-A450-E00505C9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ORGANIZA</a:t>
            </a:r>
          </a:p>
        </p:txBody>
      </p:sp>
      <p:sp>
        <p:nvSpPr>
          <p:cNvPr id="9" name="promise-detail-2">
            <a:extLst xmlns:a="http://schemas.openxmlformats.org/drawingml/2006/main">
              <a:ext uri="{FF2B5EF4-FFF2-40B4-BE49-F238E27FC236}">
                <a16:creationId xmlns:a16="http://schemas.microsoft.com/office/drawing/2014/main" id="{4A565679-DC1E-45AC-BF7A-C5020EB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grupos e campanhas</a:t>
            </a:r>
          </a:p>
        </p:txBody>
      </p:sp>
      <p:sp>
        <p:nvSpPr>
          <p:cNvPr id="10" name="promise-number-3">
            <a:extLst xmlns:a="http://schemas.openxmlformats.org/drawingml/2006/main">
              <a:ext uri="{FF2B5EF4-FFF2-40B4-BE49-F238E27FC236}">
                <a16:creationId xmlns:a16="http://schemas.microsoft.com/office/drawing/2014/main" id="{9BD112F4-A2A7-40DC-B21D-71A4FD33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03</a:t>
            </a:r>
          </a:p>
        </p:txBody>
      </p:sp>
      <p:sp>
        <p:nvSpPr>
          <p:cNvPr id="11" name="promise-verb-3">
            <a:extLst xmlns:a="http://schemas.openxmlformats.org/drawingml/2006/main">
              <a:ext uri="{FF2B5EF4-FFF2-40B4-BE49-F238E27FC236}">
                <a16:creationId xmlns:a16="http://schemas.microsoft.com/office/drawing/2014/main" id="{4A43507A-290B-4940-AC1A-0D540465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MANTÉM</a:t>
            </a:r>
          </a:p>
        </p:txBody>
      </p:sp>
      <p:sp>
        <p:nvSpPr>
          <p:cNvPr id="12" name="promise-detail-3">
            <a:extLst xmlns:a="http://schemas.openxmlformats.org/drawingml/2006/main">
              <a:ext uri="{FF2B5EF4-FFF2-40B4-BE49-F238E27FC236}">
                <a16:creationId xmlns:a16="http://schemas.microsoft.com/office/drawing/2014/main" id="{C987FF51-345A-4B8D-89E2-E4BC63FC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a operação rodando</a:t>
            </a:r>
          </a:p>
        </p:txBody>
      </p:sp>
      <p:sp>
        <p:nvSpPr>
          <p:cNvPr id="13" name="folio-label-2">
            <a:extLst xmlns:a="http://schemas.openxmlformats.org/drawingml/2006/main">
              <a:ext uri="{FF2B5EF4-FFF2-40B4-BE49-F238E27FC236}">
                <a16:creationId xmlns:a16="http://schemas.microsoft.com/office/drawing/2014/main" id="{09D945FE-4CA9-45F3-94FA-5709E7F7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14" name="folio-number-2">
            <a:extLst xmlns:a="http://schemas.openxmlformats.org/drawingml/2006/main">
              <a:ext uri="{FF2B5EF4-FFF2-40B4-BE49-F238E27FC236}">
                <a16:creationId xmlns:a16="http://schemas.microsoft.com/office/drawing/2014/main" id="{467935BF-2B04-4932-9E85-00614AE7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401953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FE202DE-164B-4F98-88B6-DA35EE70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O manual custa caro.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Você só não vê a fatura.</a:t>
            </a:r>
          </a:p>
        </p:txBody>
      </p:sp>
      <p:sp>
        <p:nvSpPr>
          <p:cNvPr id="2" name="pain-big-number">
            <a:extLst xmlns:a="http://schemas.openxmlformats.org/drawingml/2006/main">
              <a:ext uri="{FF2B5EF4-FFF2-40B4-BE49-F238E27FC236}">
                <a16:creationId xmlns:a16="http://schemas.microsoft.com/office/drawing/2014/main" id="{78D5ECAD-B848-47CA-AAC6-D968E903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3850"/>
            <a:ext cx="161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00" b="1">
                <a:solidFill>
                  <a:srgbClr val="A7FF2F"/>
                </a:solidFill>
                <a:latin typeface="Manrope"/>
                <a:ea typeface="Manrope"/>
                <a:cs typeface="Manrope"/>
              </a:defRPr>
            </a:pPr>
            <a:r>
              <a:rPr sz="11700" b="1">
                <a:solidFill>
                  <a:srgbClr val="A7FF2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3" name="pain-rule-1">
            <a:extLst xmlns:a="http://schemas.openxmlformats.org/drawingml/2006/main">
              <a:ext uri="{FF2B5EF4-FFF2-40B4-BE49-F238E27FC236}">
                <a16:creationId xmlns:a16="http://schemas.microsoft.com/office/drawing/2014/main" id="{5BC04680-2F99-41E7-AFAB-7C3A4447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in-label-1">
            <a:extLst xmlns:a="http://schemas.openxmlformats.org/drawingml/2006/main">
              <a:ext uri="{FF2B5EF4-FFF2-40B4-BE49-F238E27FC236}">
                <a16:creationId xmlns:a16="http://schemas.microsoft.com/office/drawing/2014/main" id="{3307B33B-F89B-4A0E-B6E8-3C7BFA9A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3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LINK MORTO</a:t>
            </a:r>
          </a:p>
        </p:txBody>
      </p:sp>
      <p:sp>
        <p:nvSpPr>
          <p:cNvPr id="5" name="pain-copy-1">
            <a:extLst xmlns:a="http://schemas.openxmlformats.org/drawingml/2006/main">
              <a:ext uri="{FF2B5EF4-FFF2-40B4-BE49-F238E27FC236}">
                <a16:creationId xmlns:a16="http://schemas.microsoft.com/office/drawing/2014/main" id="{9268B9EA-A888-4338-997D-1575C0B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O grupo lota e o anúncio continua apontando para uma porta fechada.</a:t>
            </a:r>
          </a:p>
        </p:txBody>
      </p:sp>
      <p:sp>
        <p:nvSpPr>
          <p:cNvPr id="6" name="pain-rule-2">
            <a:extLst xmlns:a="http://schemas.openxmlformats.org/drawingml/2006/main">
              <a:ext uri="{FF2B5EF4-FFF2-40B4-BE49-F238E27FC236}">
                <a16:creationId xmlns:a16="http://schemas.microsoft.com/office/drawing/2014/main" id="{A8D6A48B-813E-4AE8-B4E7-2EE65F39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in-label-2">
            <a:extLst xmlns:a="http://schemas.openxmlformats.org/drawingml/2006/main">
              <a:ext uri="{FF2B5EF4-FFF2-40B4-BE49-F238E27FC236}">
                <a16:creationId xmlns:a16="http://schemas.microsoft.com/office/drawing/2014/main" id="{C8AE4E50-7E22-4FBC-A928-365A6026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3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TRABALHO REPETIDO</a:t>
            </a:r>
          </a:p>
        </p:txBody>
      </p:sp>
      <p:sp>
        <p:nvSpPr>
          <p:cNvPr id="8" name="pain-copy-2">
            <a:extLst xmlns:a="http://schemas.openxmlformats.org/drawingml/2006/main">
              <a:ext uri="{FF2B5EF4-FFF2-40B4-BE49-F238E27FC236}">
                <a16:creationId xmlns:a16="http://schemas.microsoft.com/office/drawing/2014/main" id="{DB00D806-15B2-43A8-9478-301BEA3B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A mesma oferta é copiada e publicada grupo por grupo.</a:t>
            </a:r>
          </a:p>
        </p:txBody>
      </p:sp>
      <p:sp>
        <p:nvSpPr>
          <p:cNvPr id="9" name="pain-rule-3">
            <a:extLst xmlns:a="http://schemas.openxmlformats.org/drawingml/2006/main">
              <a:ext uri="{FF2B5EF4-FFF2-40B4-BE49-F238E27FC236}">
                <a16:creationId xmlns:a16="http://schemas.microsoft.com/office/drawing/2014/main" id="{F281E48B-A571-47F7-B2F1-DE584E4B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in-label-3">
            <a:extLst xmlns:a="http://schemas.openxmlformats.org/drawingml/2006/main">
              <a:ext uri="{FF2B5EF4-FFF2-40B4-BE49-F238E27FC236}">
                <a16:creationId xmlns:a16="http://schemas.microsoft.com/office/drawing/2014/main" id="{53E21415-7D78-4FE7-B458-DC3E6E0E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3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VENDA SEM ORIGEM</a:t>
            </a:r>
          </a:p>
        </p:txBody>
      </p:sp>
      <p:sp>
        <p:nvSpPr>
          <p:cNvPr id="11" name="pain-copy-3">
            <a:extLst xmlns:a="http://schemas.openxmlformats.org/drawingml/2006/main">
              <a:ext uri="{FF2B5EF4-FFF2-40B4-BE49-F238E27FC236}">
                <a16:creationId xmlns:a16="http://schemas.microsoft.com/office/drawing/2014/main" id="{0C1860F8-92BB-4F7B-AB17-A7E7FB77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43450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O pedido chega, mas ninguém sabe qual anúncio ou grupo o trouxe.</a:t>
            </a:r>
          </a:p>
        </p:txBody>
      </p:sp>
      <p:sp>
        <p:nvSpPr>
          <p:cNvPr id="12" name="folio-label-3">
            <a:extLst xmlns:a="http://schemas.openxmlformats.org/drawingml/2006/main">
              <a:ext uri="{FF2B5EF4-FFF2-40B4-BE49-F238E27FC236}">
                <a16:creationId xmlns:a16="http://schemas.microsoft.com/office/drawing/2014/main" id="{A28041B4-17F3-4AAC-9D58-315BD715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13" name="folio-number-3">
            <a:extLst xmlns:a="http://schemas.openxmlformats.org/drawingml/2006/main">
              <a:ext uri="{FF2B5EF4-FFF2-40B4-BE49-F238E27FC236}">
                <a16:creationId xmlns:a16="http://schemas.microsoft.com/office/drawing/2014/main" id="{EDA54B83-8440-4F13-A3A2-1829A03C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546120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AD5022A-2EA0-46CB-8989-507C6E27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952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20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420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Da primeira divulgação à venda,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20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420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a operação continua girando.</a:t>
            </a:r>
          </a:p>
        </p:txBody>
      </p:sp>
      <p:sp>
        <p:nvSpPr>
          <p:cNvPr id="2" name="journey-intro">
            <a:extLst xmlns:a="http://schemas.openxmlformats.org/drawingml/2006/main">
              <a:ext uri="{FF2B5EF4-FFF2-40B4-BE49-F238E27FC236}">
                <a16:creationId xmlns:a16="http://schemas.microsoft.com/office/drawing/2014/main" id="{A5371604-BB4A-4B67-83D5-9876360A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rPr>
              <a:t>Um fluxo só. Sete momentos conectados.</a:t>
            </a:r>
          </a:p>
        </p:txBody>
      </p:sp>
      <p:sp>
        <p:nvSpPr>
          <p:cNvPr id="3" name="journey-line">
            <a:extLst xmlns:a="http://schemas.openxmlformats.org/drawingml/2006/main">
              <a:ext uri="{FF2B5EF4-FFF2-40B4-BE49-F238E27FC236}">
                <a16:creationId xmlns:a16="http://schemas.microsoft.com/office/drawing/2014/main" id="{24B6E9BC-889D-43A7-A33A-4D544D50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439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6AF0F0AF-B7CB-422E-9F5F-92CD99A3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ourney-index-1">
            <a:extLst xmlns:a="http://schemas.openxmlformats.org/drawingml/2006/main">
              <a:ext uri="{FF2B5EF4-FFF2-40B4-BE49-F238E27FC236}">
                <a16:creationId xmlns:a16="http://schemas.microsoft.com/office/drawing/2014/main" id="{C7BF0A84-52EF-45A4-9D3A-FDABB03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01</a:t>
            </a:r>
          </a:p>
        </p:txBody>
      </p:sp>
      <p:sp>
        <p:nvSpPr>
          <p:cNvPr id="6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CDC4F4B3-A5EE-424D-8CCB-6F393D1F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rPr>
              <a:t>Anúncio</a:t>
            </a:r>
          </a:p>
        </p:txBody>
      </p:sp>
      <p:sp>
        <p:nvSpPr>
          <p:cNvPr id="7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145FE4F4-EBF5-4F15-A17F-C4FFF2A8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38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index-2">
            <a:extLst xmlns:a="http://schemas.openxmlformats.org/drawingml/2006/main">
              <a:ext uri="{FF2B5EF4-FFF2-40B4-BE49-F238E27FC236}">
                <a16:creationId xmlns:a16="http://schemas.microsoft.com/office/drawing/2014/main" id="{E17BB424-8E55-420D-97B4-67215E76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528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02</a:t>
            </a:r>
          </a:p>
        </p:txBody>
      </p:sp>
      <p:sp>
        <p:nvSpPr>
          <p:cNvPr id="9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3622A8E5-7683-408E-BCD1-60CC337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71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rPr>
              <a:t>Landing</a:t>
            </a:r>
          </a:p>
        </p:txBody>
      </p:sp>
      <p:sp>
        <p:nvSpPr>
          <p:cNvPr id="10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96DD26B4-3C5D-459B-83AB-4F5EF43C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index-3">
            <a:extLst xmlns:a="http://schemas.openxmlformats.org/drawingml/2006/main">
              <a:ext uri="{FF2B5EF4-FFF2-40B4-BE49-F238E27FC236}">
                <a16:creationId xmlns:a16="http://schemas.microsoft.com/office/drawing/2014/main" id="{19ED60E5-4EFE-4A98-A855-58B85C6A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528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03</a:t>
            </a:r>
          </a:p>
        </p:txBody>
      </p:sp>
      <p:sp>
        <p:nvSpPr>
          <p:cNvPr id="12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967AF2B4-5534-4549-A927-E200682C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rPr>
              <a:t>Grupo</a:t>
            </a:r>
          </a:p>
        </p:txBody>
      </p:sp>
      <p:sp>
        <p:nvSpPr>
          <p:cNvPr id="13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8FD9D7C7-5887-4DA7-B4CC-E6A7D0C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38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journey-index-4">
            <a:extLst xmlns:a="http://schemas.openxmlformats.org/drawingml/2006/main">
              <a:ext uri="{FF2B5EF4-FFF2-40B4-BE49-F238E27FC236}">
                <a16:creationId xmlns:a16="http://schemas.microsoft.com/office/drawing/2014/main" id="{A2F69418-1C66-4FFA-BE73-F91B3F75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528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04</a:t>
            </a:r>
          </a:p>
        </p:txBody>
      </p:sp>
      <p:sp>
        <p:nvSpPr>
          <p:cNvPr id="15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37FB8130-7FDB-41AF-BF82-D76341F5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rPr>
              <a:t>Organização</a:t>
            </a:r>
          </a:p>
        </p:txBody>
      </p:sp>
      <p:sp>
        <p:nvSpPr>
          <p:cNvPr id="16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DBF995A2-84B7-4625-BFE4-66AC2EEE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38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journey-index-5">
            <a:extLst xmlns:a="http://schemas.openxmlformats.org/drawingml/2006/main">
              <a:ext uri="{FF2B5EF4-FFF2-40B4-BE49-F238E27FC236}">
                <a16:creationId xmlns:a16="http://schemas.microsoft.com/office/drawing/2014/main" id="{8AC58193-75C6-4A8F-9C80-DC30EF09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05</a:t>
            </a:r>
          </a:p>
        </p:txBody>
      </p:sp>
      <p:sp>
        <p:nvSpPr>
          <p:cNvPr id="18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77179B40-A29B-4058-879B-CD2AB568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rPr>
              <a:t>Campanha</a:t>
            </a:r>
          </a:p>
        </p:txBody>
      </p:sp>
      <p:sp>
        <p:nvSpPr>
          <p:cNvPr id="19" name="journey-node-6">
            <a:extLst xmlns:a="http://schemas.openxmlformats.org/drawingml/2006/main">
              <a:ext uri="{FF2B5EF4-FFF2-40B4-BE49-F238E27FC236}">
                <a16:creationId xmlns:a16="http://schemas.microsoft.com/office/drawing/2014/main" id="{106FFDD7-2194-4185-8996-EBD9EA5B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38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journey-index-6">
            <a:extLst xmlns:a="http://schemas.openxmlformats.org/drawingml/2006/main">
              <a:ext uri="{FF2B5EF4-FFF2-40B4-BE49-F238E27FC236}">
                <a16:creationId xmlns:a16="http://schemas.microsoft.com/office/drawing/2014/main" id="{1E6B596C-05D9-4480-8A55-A1E2D9B5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528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06</a:t>
            </a:r>
          </a:p>
        </p:txBody>
      </p:sp>
      <p:sp>
        <p:nvSpPr>
          <p:cNvPr id="21" name="journey-label-6">
            <a:extLst xmlns:a="http://schemas.openxmlformats.org/drawingml/2006/main">
              <a:ext uri="{FF2B5EF4-FFF2-40B4-BE49-F238E27FC236}">
                <a16:creationId xmlns:a16="http://schemas.microsoft.com/office/drawing/2014/main" id="{2FAC2171-CDCF-4C7E-BCB5-EE748DE9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FFFEFA"/>
                </a:solidFill>
                <a:latin typeface="IBM Plex Sans"/>
                <a:ea typeface="IBM Plex Sans"/>
                <a:cs typeface="IBM Plex Sans"/>
              </a:rPr>
              <a:t>Venda</a:t>
            </a:r>
          </a:p>
        </p:txBody>
      </p:sp>
      <p:sp>
        <p:nvSpPr>
          <p:cNvPr id="22" name="journey-node-7">
            <a:extLst xmlns:a="http://schemas.openxmlformats.org/drawingml/2006/main">
              <a:ext uri="{FF2B5EF4-FFF2-40B4-BE49-F238E27FC236}">
                <a16:creationId xmlns:a16="http://schemas.microsoft.com/office/drawing/2014/main" id="{E0D9DC02-7741-4A45-B957-90D696F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38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journey-index-7">
            <a:extLst xmlns:a="http://schemas.openxmlformats.org/drawingml/2006/main">
              <a:ext uri="{FF2B5EF4-FFF2-40B4-BE49-F238E27FC236}">
                <a16:creationId xmlns:a16="http://schemas.microsoft.com/office/drawing/2014/main" id="{CC39F363-6B28-4E00-99E9-A8CD3119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528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07</a:t>
            </a:r>
          </a:p>
        </p:txBody>
      </p:sp>
      <p:sp>
        <p:nvSpPr>
          <p:cNvPr id="24" name="journey-label-7">
            <a:extLst xmlns:a="http://schemas.openxmlformats.org/drawingml/2006/main">
              <a:ext uri="{FF2B5EF4-FFF2-40B4-BE49-F238E27FC236}">
                <a16:creationId xmlns:a16="http://schemas.microsoft.com/office/drawing/2014/main" id="{C85B6CCF-6785-42C3-9B27-113BBD1A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1085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FFFEFA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1">
                <a:solidFill>
                  <a:srgbClr val="FFFEFA"/>
                </a:solidFill>
                <a:latin typeface="IBM Plex Sans"/>
                <a:ea typeface="IBM Plex Sans"/>
                <a:cs typeface="IBM Plex Sans"/>
              </a:rPr>
              <a:t>Mensuração</a:t>
            </a:r>
          </a:p>
        </p:txBody>
      </p:sp>
      <p:sp>
        <p:nvSpPr>
          <p:cNvPr id="25" name="journey-outcome-rule">
            <a:extLst xmlns:a="http://schemas.openxmlformats.org/drawingml/2006/main">
              <a:ext uri="{FF2B5EF4-FFF2-40B4-BE49-F238E27FC236}">
                <a16:creationId xmlns:a16="http://schemas.microsoft.com/office/drawing/2014/main" id="{CF962EC0-391F-4AFF-8C5F-ED62D939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journey-outcome">
            <a:extLst xmlns:a="http://schemas.openxmlformats.org/drawingml/2006/main">
              <a:ext uri="{FF2B5EF4-FFF2-40B4-BE49-F238E27FC236}">
                <a16:creationId xmlns:a16="http://schemas.microsoft.com/office/drawing/2014/main" id="{91CAC35C-A955-426A-88EA-A44A9D2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O ganho não está em automatizar uma tarefa isolada — está em não quebrar o fluxo.</a:t>
            </a:r>
          </a:p>
        </p:txBody>
      </p:sp>
      <p:sp>
        <p:nvSpPr>
          <p:cNvPr id="27" name="folio-label-4">
            <a:extLst xmlns:a="http://schemas.openxmlformats.org/drawingml/2006/main">
              <a:ext uri="{FF2B5EF4-FFF2-40B4-BE49-F238E27FC236}">
                <a16:creationId xmlns:a16="http://schemas.microsoft.com/office/drawing/2014/main" id="{896F8556-95D1-4616-B84E-1EB846F5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28" name="folio-number-4">
            <a:extLst xmlns:a="http://schemas.openxmlformats.org/drawingml/2006/main">
              <a:ext uri="{FF2B5EF4-FFF2-40B4-BE49-F238E27FC236}">
                <a16:creationId xmlns:a16="http://schemas.microsoft.com/office/drawing/2014/main" id="{C870EE18-08A0-471F-9353-65E2F99B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1196338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5E862D9-E627-4392-BBEE-4DF4995C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27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27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Cinco módulos sustentam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27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27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o mesmo fluxo.</a:t>
            </a:r>
          </a:p>
        </p:txBody>
      </p:sp>
      <p:sp>
        <p:nvSpPr>
          <p:cNvPr id="2" name="modules-acid-field">
            <a:extLst xmlns:a="http://schemas.openxmlformats.org/drawingml/2006/main">
              <a:ext uri="{FF2B5EF4-FFF2-40B4-BE49-F238E27FC236}">
                <a16:creationId xmlns:a16="http://schemas.microsoft.com/office/drawing/2014/main" id="{4EBF2A8B-5FB4-4855-A48D-C8BB649F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3400"/>
            <a:ext cx="2705100" cy="550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006386f7244b7"/>
          <a:stretch xmlns:a="http://schemas.openxmlformats.org/drawingml/2006/main"/>
        </p:blipFill>
        <p:spPr>
          <a:xfrm xmlns:a="http://schemas.openxmlformats.org/drawingml/2006/main">
            <a:off x="9353550" y="1543050"/>
            <a:ext cx="1752600" cy="1752600"/>
          </a:xfrm>
          <a:prstGeom xmlns:a="http://schemas.openxmlformats.org/drawingml/2006/main" prst="rect">
            <a:avLst/>
          </a:prstGeom>
        </p:spPr>
      </p:pic>
      <p:sp>
        <p:nvSpPr>
          <p:cNvPr id="4" name="modules-field-caption">
            <a:extLst xmlns:a="http://schemas.openxmlformats.org/drawingml/2006/main">
              <a:ext uri="{FF2B5EF4-FFF2-40B4-BE49-F238E27FC236}">
                <a16:creationId xmlns:a16="http://schemas.microsoft.com/office/drawing/2014/main" id="{26E8B23E-3A69-4BB2-A884-A89661F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133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UMA CENTRAL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OPERACIONAL</a:t>
            </a:r>
          </a:p>
        </p:txBody>
      </p:sp>
      <p:sp>
        <p:nvSpPr>
          <p:cNvPr id="5" name="module-label-1">
            <a:extLst xmlns:a="http://schemas.openxmlformats.org/drawingml/2006/main">
              <a:ext uri="{FF2B5EF4-FFF2-40B4-BE49-F238E27FC236}">
                <a16:creationId xmlns:a16="http://schemas.microsoft.com/office/drawing/2014/main" id="{1493CAE9-ABE5-4D62-8D92-A6FDB06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PAGES</a:t>
            </a:r>
          </a:p>
        </p:txBody>
      </p:sp>
      <p:sp>
        <p:nvSpPr>
          <p:cNvPr id="6" name="module-copy-1">
            <a:extLst xmlns:a="http://schemas.openxmlformats.org/drawingml/2006/main">
              <a:ext uri="{FF2B5EF4-FFF2-40B4-BE49-F238E27FC236}">
                <a16:creationId xmlns:a16="http://schemas.microsoft.com/office/drawing/2014/main" id="{6251FA29-D027-40F4-87E1-94572D9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52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publica a página de captação e registra a origem</a:t>
            </a:r>
          </a:p>
        </p:txBody>
      </p:sp>
      <p:sp>
        <p:nvSpPr>
          <p:cNvPr id="7" name="module-divider-1">
            <a:extLst xmlns:a="http://schemas.openxmlformats.org/drawingml/2006/main">
              <a:ext uri="{FF2B5EF4-FFF2-40B4-BE49-F238E27FC236}">
                <a16:creationId xmlns:a16="http://schemas.microsoft.com/office/drawing/2014/main" id="{4C34E315-0385-402B-8D01-A08C3563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75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ule-label-2">
            <a:extLst xmlns:a="http://schemas.openxmlformats.org/drawingml/2006/main">
              <a:ext uri="{FF2B5EF4-FFF2-40B4-BE49-F238E27FC236}">
                <a16:creationId xmlns:a16="http://schemas.microsoft.com/office/drawing/2014/main" id="{C8DC6B59-0F3C-4A04-BCE4-3FE6BBD7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GRUPOS</a:t>
            </a:r>
          </a:p>
        </p:txBody>
      </p:sp>
      <p:sp>
        <p:nvSpPr>
          <p:cNvPr id="9" name="module-copy-2">
            <a:extLst xmlns:a="http://schemas.openxmlformats.org/drawingml/2006/main">
              <a:ext uri="{FF2B5EF4-FFF2-40B4-BE49-F238E27FC236}">
                <a16:creationId xmlns:a16="http://schemas.microsoft.com/office/drawing/2014/main" id="{CE712106-9E44-4C1F-A73A-8F25E8F4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mantém o link vivo quando um grupo lota</a:t>
            </a:r>
          </a:p>
        </p:txBody>
      </p:sp>
      <p:sp>
        <p:nvSpPr>
          <p:cNvPr id="10" name="module-divider-2">
            <a:extLst xmlns:a="http://schemas.openxmlformats.org/drawingml/2006/main">
              <a:ext uri="{FF2B5EF4-FFF2-40B4-BE49-F238E27FC236}">
                <a16:creationId xmlns:a16="http://schemas.microsoft.com/office/drawing/2014/main" id="{670979EF-2D09-4583-9E20-9214ADF9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775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dule-label-3">
            <a:extLst xmlns:a="http://schemas.openxmlformats.org/drawingml/2006/main">
              <a:ext uri="{FF2B5EF4-FFF2-40B4-BE49-F238E27FC236}">
                <a16:creationId xmlns:a16="http://schemas.microsoft.com/office/drawing/2014/main" id="{6E1B406C-970D-48C5-B926-BA261B8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CAMPANHAS</a:t>
            </a:r>
          </a:p>
        </p:txBody>
      </p:sp>
      <p:sp>
        <p:nvSpPr>
          <p:cNvPr id="12" name="module-copy-3">
            <a:extLst xmlns:a="http://schemas.openxmlformats.org/drawingml/2006/main">
              <a:ext uri="{FF2B5EF4-FFF2-40B4-BE49-F238E27FC236}">
                <a16:creationId xmlns:a16="http://schemas.microsoft.com/office/drawing/2014/main" id="{CD85E224-5634-4DD9-8C91-AD0BEC96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623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reúne oferta, público e destino</a:t>
            </a:r>
          </a:p>
        </p:txBody>
      </p:sp>
      <p:sp>
        <p:nvSpPr>
          <p:cNvPr id="13" name="module-divider-3">
            <a:extLst xmlns:a="http://schemas.openxmlformats.org/drawingml/2006/main">
              <a:ext uri="{FF2B5EF4-FFF2-40B4-BE49-F238E27FC236}">
                <a16:creationId xmlns:a16="http://schemas.microsoft.com/office/drawing/2014/main" id="{8B3DB128-8191-4FEF-BDBD-03BC88E8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775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4BE79A1F-3179-467A-8497-2EA06FBE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AGENDA</a:t>
            </a:r>
          </a:p>
        </p:txBody>
      </p:sp>
      <p:sp>
        <p:nvSpPr>
          <p:cNvPr id="15" name="module-copy-4">
            <a:extLst xmlns:a="http://schemas.openxmlformats.org/drawingml/2006/main">
              <a:ext uri="{FF2B5EF4-FFF2-40B4-BE49-F238E27FC236}">
                <a16:creationId xmlns:a16="http://schemas.microsoft.com/office/drawing/2014/main" id="{5D3C1E40-40F2-4826-BEFD-F04C2E5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672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programa a publicação na hora certa</a:t>
            </a:r>
          </a:p>
        </p:txBody>
      </p:sp>
      <p:sp>
        <p:nvSpPr>
          <p:cNvPr id="16" name="module-divider-4">
            <a:extLst xmlns:a="http://schemas.openxmlformats.org/drawingml/2006/main">
              <a:ext uri="{FF2B5EF4-FFF2-40B4-BE49-F238E27FC236}">
                <a16:creationId xmlns:a16="http://schemas.microsoft.com/office/drawing/2014/main" id="{58F4011A-7C73-464D-BBB7-0FDF799A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775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dule-label-5">
            <a:extLst xmlns:a="http://schemas.openxmlformats.org/drawingml/2006/main">
              <a:ext uri="{FF2B5EF4-FFF2-40B4-BE49-F238E27FC236}">
                <a16:creationId xmlns:a16="http://schemas.microsoft.com/office/drawing/2014/main" id="{DC3FB0DE-6AFE-45B7-A466-D279A445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7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RESULTADOS</a:t>
            </a:r>
          </a:p>
        </p:txBody>
      </p:sp>
      <p:sp>
        <p:nvSpPr>
          <p:cNvPr id="18" name="module-copy-5">
            <a:extLst xmlns:a="http://schemas.openxmlformats.org/drawingml/2006/main">
              <a:ext uri="{FF2B5EF4-FFF2-40B4-BE49-F238E27FC236}">
                <a16:creationId xmlns:a16="http://schemas.microsoft.com/office/drawing/2014/main" id="{8354959C-2232-4C1D-9A36-175CDC2E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720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mostra de onde vieram grupos e vendas</a:t>
            </a:r>
          </a:p>
        </p:txBody>
      </p:sp>
      <p:sp>
        <p:nvSpPr>
          <p:cNvPr id="19" name="folio-label-5">
            <a:extLst xmlns:a="http://schemas.openxmlformats.org/drawingml/2006/main">
              <a:ext uri="{FF2B5EF4-FFF2-40B4-BE49-F238E27FC236}">
                <a16:creationId xmlns:a16="http://schemas.microsoft.com/office/drawing/2014/main" id="{E21DC0B2-2B61-4668-AA7F-A6E0779B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20" name="folio-number-5">
            <a:extLst xmlns:a="http://schemas.openxmlformats.org/drawingml/2006/main">
              <a:ext uri="{FF2B5EF4-FFF2-40B4-BE49-F238E27FC236}">
                <a16:creationId xmlns:a16="http://schemas.microsoft.com/office/drawing/2014/main" id="{59D57FA7-667A-48B6-8D1A-D2912346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1487857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9A566E0-CFA6-4BBC-885B-D13152B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495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12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Uma definição.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12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12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Operação pronta.</a:t>
            </a:r>
          </a:p>
        </p:txBody>
      </p:sp>
      <p:sp>
        <p:nvSpPr>
          <p:cNvPr id="2" name="product-proof-copy">
            <a:extLst xmlns:a="http://schemas.openxmlformats.org/drawingml/2006/main">
              <a:ext uri="{FF2B5EF4-FFF2-40B4-BE49-F238E27FC236}">
                <a16:creationId xmlns:a16="http://schemas.microsoft.com/office/drawing/2014/main" id="{045F7E03-FCA4-41E5-8675-8ABF63F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A campanha organiza oferta e grupos. A Girumo prepara página e link rastreado para o próximo passo.</a:t>
            </a:r>
          </a:p>
        </p:txBody>
      </p:sp>
      <p:sp>
        <p:nvSpPr>
          <p:cNvPr id="3" name="product-proof-rule">
            <a:extLst xmlns:a="http://schemas.openxmlformats.org/drawingml/2006/main">
              <a:ext uri="{FF2B5EF4-FFF2-40B4-BE49-F238E27FC236}">
                <a16:creationId xmlns:a16="http://schemas.microsoft.com/office/drawing/2014/main" id="{E16C3407-E66D-4822-805F-A307A3DE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duct-proof-founder-label">
            <a:extLst xmlns:a="http://schemas.openxmlformats.org/drawingml/2006/main">
              <a:ext uri="{FF2B5EF4-FFF2-40B4-BE49-F238E27FC236}">
                <a16:creationId xmlns:a16="http://schemas.microsoft.com/office/drawing/2014/main" id="{52C86392-F4B2-4A00-9573-4347782C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125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PROVA DA OPERAÇÃO FUNDADORA · MEGA STOCK</a:t>
            </a:r>
          </a:p>
        </p:txBody>
      </p:sp>
      <p:sp>
        <p:nvSpPr>
          <p:cNvPr id="5" name="product-proof-founder-metrics">
            <a:extLst xmlns:a="http://schemas.openxmlformats.org/drawingml/2006/main">
              <a:ext uri="{FF2B5EF4-FFF2-40B4-BE49-F238E27FC236}">
                <a16:creationId xmlns:a16="http://schemas.microsoft.com/office/drawing/2014/main" id="{4DEA775A-D3F4-42A2-A1E4-399DCF50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171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R$ 5 mil → R$ 350 mil/mês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12 mil+ pessoas · 50+ grupos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+20 mil peças em evento de 2 dias</a:t>
            </a:r>
          </a:p>
        </p:txBody>
      </p:sp>
      <p:sp>
        <p:nvSpPr>
          <p:cNvPr id="6" name="landing-frame">
            <a:extLst xmlns:a="http://schemas.openxmlformats.org/drawingml/2006/main">
              <a:ext uri="{FF2B5EF4-FFF2-40B4-BE49-F238E27FC236}">
                <a16:creationId xmlns:a16="http://schemas.microsoft.com/office/drawing/2014/main" id="{E087B7A5-AB14-4C17-9A11-58C37034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81050"/>
            <a:ext cx="63627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9050">
            <a:solidFill>
              <a:srgbClr val="07192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e99704fc94a62"/>
          <a:stretch xmlns:a="http://schemas.openxmlformats.org/drawingml/2006/main"/>
        </p:blipFill>
        <p:spPr>
          <a:xfrm xmlns:a="http://schemas.openxmlformats.org/drawingml/2006/main">
            <a:off x="5318216" y="876300"/>
            <a:ext cx="6165669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landing-source-label">
            <a:extLst xmlns:a="http://schemas.openxmlformats.org/drawingml/2006/main">
              <a:ext uri="{FF2B5EF4-FFF2-40B4-BE49-F238E27FC236}">
                <a16:creationId xmlns:a16="http://schemas.microsoft.com/office/drawing/2014/main" id="{9AF3068D-26D6-408E-A867-1A275C9C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34050"/>
            <a:ext cx="636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INTERFACE REAL DA LANDING GIRUMO · CAPTURA DE QA · 14 JUL 2026</a:t>
            </a:r>
          </a:p>
        </p:txBody>
      </p:sp>
      <p:sp>
        <p:nvSpPr>
          <p:cNvPr id="9" name="folio-label-6">
            <a:extLst xmlns:a="http://schemas.openxmlformats.org/drawingml/2006/main">
              <a:ext uri="{FF2B5EF4-FFF2-40B4-BE49-F238E27FC236}">
                <a16:creationId xmlns:a16="http://schemas.microsoft.com/office/drawing/2014/main" id="{A0E1BA5E-E756-4C4B-A648-0ED8D9C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10" name="folio-number-6">
            <a:extLst xmlns:a="http://schemas.openxmlformats.org/drawingml/2006/main">
              <a:ext uri="{FF2B5EF4-FFF2-40B4-BE49-F238E27FC236}">
                <a16:creationId xmlns:a16="http://schemas.microsoft.com/office/drawing/2014/main" id="{BCDABBD4-4C11-49E4-A110-6FCD4029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1084455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1E14B87-4839-47F2-B148-3360838D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81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A implantação começa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pelo seu fluxo real.</a:t>
            </a:r>
          </a:p>
        </p:txBody>
      </p:sp>
      <p:sp>
        <p:nvSpPr>
          <p:cNvPr id="2" name="implementation-intro">
            <a:extLst xmlns:a="http://schemas.openxmlformats.org/drawingml/2006/main">
              <a:ext uri="{FF2B5EF4-FFF2-40B4-BE49-F238E27FC236}">
                <a16:creationId xmlns:a16="http://schemas.microsoft.com/office/drawing/2014/main" id="{02D809ED-CA99-47C1-B510-96C4116E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rPr>
              <a:t>Sem etapa decorativa: cada decisão parte da operação que você já tem.</a:t>
            </a:r>
          </a:p>
        </p:txBody>
      </p:sp>
      <p:sp>
        <p:nvSpPr>
          <p:cNvPr id="3" name="implementation-line">
            <a:extLst xmlns:a="http://schemas.openxmlformats.org/drawingml/2006/main">
              <a:ext uri="{FF2B5EF4-FFF2-40B4-BE49-F238E27FC236}">
                <a16:creationId xmlns:a16="http://schemas.microsoft.com/office/drawing/2014/main" id="{25582DF8-C1FB-4DDB-8661-3532A7F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0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mplementation-marker-1">
            <a:extLst xmlns:a="http://schemas.openxmlformats.org/drawingml/2006/main">
              <a:ext uri="{FF2B5EF4-FFF2-40B4-BE49-F238E27FC236}">
                <a16:creationId xmlns:a16="http://schemas.microsoft.com/office/drawing/2014/main" id="{9650B8E5-D7DD-4998-A6A2-6EE26DB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mplementation-number-1">
            <a:extLst xmlns:a="http://schemas.openxmlformats.org/drawingml/2006/main">
              <a:ext uri="{FF2B5EF4-FFF2-40B4-BE49-F238E27FC236}">
                <a16:creationId xmlns:a16="http://schemas.microsoft.com/office/drawing/2014/main" id="{370AACC3-0909-4AFC-888A-5D8CC806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rPr>
              <a:t>01</a:t>
            </a:r>
          </a:p>
        </p:txBody>
      </p:sp>
      <p:sp>
        <p:nvSpPr>
          <p:cNvPr id="6" name="implementation-heading-1">
            <a:extLst xmlns:a="http://schemas.openxmlformats.org/drawingml/2006/main">
              <a:ext uri="{FF2B5EF4-FFF2-40B4-BE49-F238E27FC236}">
                <a16:creationId xmlns:a16="http://schemas.microsoft.com/office/drawing/2014/main" id="{308A971D-B446-4E52-93AC-75581E87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Mapear</a:t>
            </a:r>
          </a:p>
        </p:txBody>
      </p:sp>
      <p:sp>
        <p:nvSpPr>
          <p:cNvPr id="7" name="implementation-copy-1">
            <a:extLst xmlns:a="http://schemas.openxmlformats.org/drawingml/2006/main">
              <a:ext uri="{FF2B5EF4-FFF2-40B4-BE49-F238E27FC236}">
                <a16:creationId xmlns:a16="http://schemas.microsoft.com/office/drawing/2014/main" id="{0259C6DA-4456-4FD0-93C3-0F238FB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rPr>
              <a:t>anúncios, grupos, oferta e rotina</a:t>
            </a:r>
          </a:p>
        </p:txBody>
      </p:sp>
      <p:sp>
        <p:nvSpPr>
          <p:cNvPr id="8" name="implementation-marker-2">
            <a:extLst xmlns:a="http://schemas.openxmlformats.org/drawingml/2006/main">
              <a:ext uri="{FF2B5EF4-FFF2-40B4-BE49-F238E27FC236}">
                <a16:creationId xmlns:a16="http://schemas.microsoft.com/office/drawing/2014/main" id="{14D6B723-A8A2-4E54-94E9-CFDD0E6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plementation-number-2">
            <a:extLst xmlns:a="http://schemas.openxmlformats.org/drawingml/2006/main">
              <a:ext uri="{FF2B5EF4-FFF2-40B4-BE49-F238E27FC236}">
                <a16:creationId xmlns:a16="http://schemas.microsoft.com/office/drawing/2014/main" id="{707FF4A4-2EA4-4F84-AC26-07F649F2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rPr>
              <a:t>02</a:t>
            </a:r>
          </a:p>
        </p:txBody>
      </p:sp>
      <p:sp>
        <p:nvSpPr>
          <p:cNvPr id="10" name="implementation-heading-2">
            <a:extLst xmlns:a="http://schemas.openxmlformats.org/drawingml/2006/main">
              <a:ext uri="{FF2B5EF4-FFF2-40B4-BE49-F238E27FC236}">
                <a16:creationId xmlns:a16="http://schemas.microsoft.com/office/drawing/2014/main" id="{8B220925-8266-4BF7-9D29-EE3F7239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90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Configurar</a:t>
            </a:r>
          </a:p>
        </p:txBody>
      </p:sp>
      <p:sp>
        <p:nvSpPr>
          <p:cNvPr id="11" name="implementation-copy-2">
            <a:extLst xmlns:a="http://schemas.openxmlformats.org/drawingml/2006/main">
              <a:ext uri="{FF2B5EF4-FFF2-40B4-BE49-F238E27FC236}">
                <a16:creationId xmlns:a16="http://schemas.microsoft.com/office/drawing/2014/main" id="{8B767222-7277-4509-AC00-75336969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rPr>
              <a:t>páginas, links, grupos e agenda</a:t>
            </a:r>
          </a:p>
        </p:txBody>
      </p:sp>
      <p:sp>
        <p:nvSpPr>
          <p:cNvPr id="12" name="implementation-marker-3">
            <a:extLst xmlns:a="http://schemas.openxmlformats.org/drawingml/2006/main">
              <a:ext uri="{FF2B5EF4-FFF2-40B4-BE49-F238E27FC236}">
                <a16:creationId xmlns:a16="http://schemas.microsoft.com/office/drawing/2014/main" id="{40BA40C7-5003-4DC4-A207-B26A44C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lementation-number-3">
            <a:extLst xmlns:a="http://schemas.openxmlformats.org/drawingml/2006/main">
              <a:ext uri="{FF2B5EF4-FFF2-40B4-BE49-F238E27FC236}">
                <a16:creationId xmlns:a16="http://schemas.microsoft.com/office/drawing/2014/main" id="{2497E5FC-CC79-4770-B819-A5887EA8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A7FF2F"/>
                </a:solidFill>
                <a:latin typeface="IBM Plex Mono Medm"/>
                <a:ea typeface="IBM Plex Mono Medm"/>
                <a:cs typeface="IBM Plex Mono Medm"/>
              </a:rPr>
              <a:t>03</a:t>
            </a:r>
          </a:p>
        </p:txBody>
      </p:sp>
      <p:sp>
        <p:nvSpPr>
          <p:cNvPr id="14" name="implementation-heading-3">
            <a:extLst xmlns:a="http://schemas.openxmlformats.org/drawingml/2006/main">
              <a:ext uri="{FF2B5EF4-FFF2-40B4-BE49-F238E27FC236}">
                <a16:creationId xmlns:a16="http://schemas.microsoft.com/office/drawing/2014/main" id="{BB0FAB85-C155-4915-81B3-4ADF46DE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Rodar e medir</a:t>
            </a:r>
          </a:p>
        </p:txBody>
      </p:sp>
      <p:sp>
        <p:nvSpPr>
          <p:cNvPr id="15" name="implementation-copy-3">
            <a:extLst xmlns:a="http://schemas.openxmlformats.org/drawingml/2006/main">
              <a:ext uri="{FF2B5EF4-FFF2-40B4-BE49-F238E27FC236}">
                <a16:creationId xmlns:a16="http://schemas.microsoft.com/office/drawing/2014/main" id="{3A4D2190-3A1A-4637-A5C6-9F8948F4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defRPr>
            </a:pPr>
            <a:r>
              <a:rPr sz="17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rPr>
              <a:t>publicação, origem e próximos ajustes</a:t>
            </a:r>
          </a:p>
        </p:txBody>
      </p:sp>
      <p:sp>
        <p:nvSpPr>
          <p:cNvPr id="16" name="implementation-action-rule">
            <a:extLst xmlns:a="http://schemas.openxmlformats.org/drawingml/2006/main">
              <a:ext uri="{FF2B5EF4-FFF2-40B4-BE49-F238E27FC236}">
                <a16:creationId xmlns:a16="http://schemas.microsoft.com/office/drawing/2014/main" id="{465B923C-B200-4187-A9C3-C46833CB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mplementation-action">
            <a:extLst xmlns:a="http://schemas.openxmlformats.org/drawingml/2006/main">
              <a:ext uri="{FF2B5EF4-FFF2-40B4-BE49-F238E27FC236}">
                <a16:creationId xmlns:a16="http://schemas.microsoft.com/office/drawing/2014/main" id="{E2E3CCD6-F338-4800-BF8A-20AEA08A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O primeiro passo é uma conversa de mapeamento.</a:t>
            </a:r>
          </a:p>
        </p:txBody>
      </p:sp>
      <p:sp>
        <p:nvSpPr>
          <p:cNvPr id="18" name="folio-label-7">
            <a:extLst xmlns:a="http://schemas.openxmlformats.org/drawingml/2006/main">
              <a:ext uri="{FF2B5EF4-FFF2-40B4-BE49-F238E27FC236}">
                <a16:creationId xmlns:a16="http://schemas.microsoft.com/office/drawing/2014/main" id="{5C8CAE17-BB73-4324-B0CE-28786FD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19" name="folio-number-7">
            <a:extLst xmlns:a="http://schemas.openxmlformats.org/drawingml/2006/main">
              <a:ext uri="{FF2B5EF4-FFF2-40B4-BE49-F238E27FC236}">
                <a16:creationId xmlns:a16="http://schemas.microsoft.com/office/drawing/2014/main" id="{85F922C1-2720-450F-9D1F-043879C6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1052961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7F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980629D-665C-4811-A0D8-A3D92C3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57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57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A próxima ação é simples: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75" b="1">
                <a:solidFill>
                  <a:srgbClr val="071923"/>
                </a:solidFill>
                <a:latin typeface="Manrope"/>
                <a:ea typeface="Manrope"/>
                <a:cs typeface="Manrope"/>
              </a:defRPr>
            </a:pPr>
            <a:r>
              <a:rPr sz="4575" b="1">
                <a:solidFill>
                  <a:srgbClr val="071923"/>
                </a:solidFill>
                <a:latin typeface="Manrope"/>
                <a:ea typeface="Manrope"/>
                <a:cs typeface="Manrope"/>
              </a:rPr>
              <a:t>mapear a operação.</a:t>
            </a:r>
          </a:p>
        </p:txBody>
      </p:sp>
      <p:sp>
        <p:nvSpPr>
          <p:cNvPr id="2" name="offer-positioning">
            <a:extLst xmlns:a="http://schemas.openxmlformats.org/drawingml/2006/main">
              <a:ext uri="{FF2B5EF4-FFF2-40B4-BE49-F238E27FC236}">
                <a16:creationId xmlns:a16="http://schemas.microsoft.com/office/drawing/2014/main" id="{CC25104D-FC02-4294-998E-9307753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Uma conversa de mapeamento operacional, focada no que precisa girar primeiro.</a:t>
            </a:r>
          </a:p>
        </p:txBody>
      </p:sp>
      <p:sp>
        <p:nvSpPr>
          <p:cNvPr id="3" name="offer-divider">
            <a:extLst xmlns:a="http://schemas.openxmlformats.org/drawingml/2006/main">
              <a:ext uri="{FF2B5EF4-FFF2-40B4-BE49-F238E27FC236}">
                <a16:creationId xmlns:a16="http://schemas.microsoft.com/office/drawing/2014/main" id="{64C4B5F9-F9E4-4865-A510-935C7FCF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19150"/>
            <a:ext cx="285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ffer-list-label">
            <a:extLst xmlns:a="http://schemas.openxmlformats.org/drawingml/2006/main">
              <a:ext uri="{FF2B5EF4-FFF2-40B4-BE49-F238E27FC236}">
                <a16:creationId xmlns:a16="http://schemas.microsoft.com/office/drawing/2014/main" id="{99A56E0E-308F-4DE3-808B-430F2EE4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52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NA CONVERSA, VAMOS</a:t>
            </a:r>
          </a:p>
        </p:txBody>
      </p:sp>
      <p:sp>
        <p:nvSpPr>
          <p:cNvPr id="5" name="offer-item-number-1">
            <a:extLst xmlns:a="http://schemas.openxmlformats.org/drawingml/2006/main">
              <a:ext uri="{FF2B5EF4-FFF2-40B4-BE49-F238E27FC236}">
                <a16:creationId xmlns:a16="http://schemas.microsoft.com/office/drawing/2014/main" id="{410B2DFD-E5E3-4E99-8B7D-337AABB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81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01</a:t>
            </a:r>
          </a:p>
        </p:txBody>
      </p:sp>
      <p:sp>
        <p:nvSpPr>
          <p:cNvPr id="6" name="offer-item-copy-1">
            <a:extLst xmlns:a="http://schemas.openxmlformats.org/drawingml/2006/main">
              <a:ext uri="{FF2B5EF4-FFF2-40B4-BE49-F238E27FC236}">
                <a16:creationId xmlns:a16="http://schemas.microsoft.com/office/drawing/2014/main" id="{10DCE511-C3A3-455E-BD4E-DBAE3D37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276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entender como você capta e lota grupos</a:t>
            </a:r>
          </a:p>
        </p:txBody>
      </p:sp>
      <p:sp>
        <p:nvSpPr>
          <p:cNvPr id="7" name="offer-item-number-2">
            <a:extLst xmlns:a="http://schemas.openxmlformats.org/drawingml/2006/main">
              <a:ext uri="{FF2B5EF4-FFF2-40B4-BE49-F238E27FC236}">
                <a16:creationId xmlns:a16="http://schemas.microsoft.com/office/drawing/2014/main" id="{91A9F0F9-BB85-4252-A612-158DC3F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02</a:t>
            </a:r>
          </a:p>
        </p:txBody>
      </p:sp>
      <p:sp>
        <p:nvSpPr>
          <p:cNvPr id="8" name="offer-item-copy-2">
            <a:extLst xmlns:a="http://schemas.openxmlformats.org/drawingml/2006/main">
              <a:ext uri="{FF2B5EF4-FFF2-40B4-BE49-F238E27FC236}">
                <a16:creationId xmlns:a16="http://schemas.microsoft.com/office/drawing/2014/main" id="{F830C0D2-E46D-495A-A135-B210B4B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276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localizar onde o trabalho se repete</a:t>
            </a:r>
          </a:p>
        </p:txBody>
      </p:sp>
      <p:sp>
        <p:nvSpPr>
          <p:cNvPr id="9" name="offer-item-number-3">
            <a:extLst xmlns:a="http://schemas.openxmlformats.org/drawingml/2006/main">
              <a:ext uri="{FF2B5EF4-FFF2-40B4-BE49-F238E27FC236}">
                <a16:creationId xmlns:a16="http://schemas.microsoft.com/office/drawing/2014/main" id="{0C42BA37-3DF8-4BDA-813A-59AE1006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05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20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03</a:t>
            </a:r>
          </a:p>
        </p:txBody>
      </p:sp>
      <p:sp>
        <p:nvSpPr>
          <p:cNvPr id="10" name="offer-item-copy-3">
            <a:extLst xmlns:a="http://schemas.openxmlformats.org/drawingml/2006/main">
              <a:ext uri="{FF2B5EF4-FFF2-40B4-BE49-F238E27FC236}">
                <a16:creationId xmlns:a16="http://schemas.microsoft.com/office/drawing/2014/main" id="{3EF60B75-B94B-49A9-B1B2-6CA7245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3276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071923"/>
                </a:solidFill>
                <a:latin typeface="IBM Plex Sans"/>
                <a:ea typeface="IBM Plex Sans"/>
                <a:cs typeface="IBM Plex Sans"/>
              </a:rPr>
              <a:t>priorizar o primeiro fluxo para colocar em movimento</a:t>
            </a:r>
          </a:p>
        </p:txBody>
      </p:sp>
      <p:sp>
        <p:nvSpPr>
          <p:cNvPr id="11" name="offer-action-band">
            <a:extLst xmlns:a="http://schemas.openxmlformats.org/drawingml/2006/main">
              <a:ext uri="{FF2B5EF4-FFF2-40B4-BE49-F238E27FC236}">
                <a16:creationId xmlns:a16="http://schemas.microsoft.com/office/drawing/2014/main" id="{782AC075-5E7A-4A67-B18E-B2388860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ffer-action">
            <a:extLst xmlns:a="http://schemas.openxmlformats.org/drawingml/2006/main">
              <a:ext uri="{FF2B5EF4-FFF2-40B4-BE49-F238E27FC236}">
                <a16:creationId xmlns:a16="http://schemas.microsoft.com/office/drawing/2014/main" id="{A3F98E36-C16A-4127-9A50-B27F55A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CONVERSA DE MAPEAMENTO OPERACIONAL  →</a:t>
            </a:r>
          </a:p>
        </p:txBody>
      </p:sp>
      <p:sp>
        <p:nvSpPr>
          <p:cNvPr id="13" name="folio-label-8">
            <a:extLst xmlns:a="http://schemas.openxmlformats.org/drawingml/2006/main">
              <a:ext uri="{FF2B5EF4-FFF2-40B4-BE49-F238E27FC236}">
                <a16:creationId xmlns:a16="http://schemas.microsoft.com/office/drawing/2014/main" id="{5F4B58C0-E5D9-42A9-B20A-AE0CE310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14" name="folio-number-8">
            <a:extLst xmlns:a="http://schemas.openxmlformats.org/drawingml/2006/main">
              <a:ext uri="{FF2B5EF4-FFF2-40B4-BE49-F238E27FC236}">
                <a16:creationId xmlns:a16="http://schemas.microsoft.com/office/drawing/2014/main" id="{8446D636-7BFF-4091-A75C-516E4E47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071923"/>
                </a:solidFill>
                <a:latin typeface="IBM Plex Mono Medm"/>
                <a:ea typeface="IBM Plex Mono Medm"/>
                <a:cs typeface="IBM Plex Mono Medm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769655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tact-acid-top">
            <a:extLst xmlns:a="http://schemas.openxmlformats.org/drawingml/2006/main">
              <a:ext uri="{FF2B5EF4-FFF2-40B4-BE49-F238E27FC236}">
                <a16:creationId xmlns:a16="http://schemas.microsoft.com/office/drawing/2014/main" id="{151619F5-AD14-4FB5-928E-8C91DF06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44384c59345be"/>
          <a:stretch xmlns:a="http://schemas.openxmlformats.org/drawingml/2006/main"/>
        </p:blipFill>
        <p:spPr>
          <a:xfrm xmlns:a="http://schemas.openxmlformats.org/drawingml/2006/main">
            <a:off x="609600" y="495300"/>
            <a:ext cx="2476500" cy="619125"/>
          </a:xfrm>
          <a:prstGeom xmlns:a="http://schemas.openxmlformats.org/drawingml/2006/main" prst="rect">
            <a:avLst/>
          </a:prstGeom>
        </p:spPr>
      </p:pic>
      <p:sp>
        <p:nvSpPr>
          <p:cNvPr id="3" name="contact-title">
            <a:extLst xmlns:a="http://schemas.openxmlformats.org/drawingml/2006/main">
              <a:ext uri="{FF2B5EF4-FFF2-40B4-BE49-F238E27FC236}">
                <a16:creationId xmlns:a16="http://schemas.microsoft.com/office/drawing/2014/main" id="{FF6AA74D-A695-41E3-84D4-EA87B9D7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382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Vamos colocar seus grupos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100" b="1">
                <a:solidFill>
                  <a:srgbClr val="FFFEFA"/>
                </a:solidFill>
                <a:latin typeface="Manrope"/>
                <a:ea typeface="Manrope"/>
                <a:cs typeface="Manrope"/>
              </a:defRPr>
            </a:pPr>
            <a:r>
              <a:rPr sz="5100" b="1">
                <a:solidFill>
                  <a:srgbClr val="FFFEFA"/>
                </a:solidFill>
                <a:latin typeface="Manrope"/>
                <a:ea typeface="Manrope"/>
                <a:cs typeface="Manrope"/>
              </a:rPr>
              <a:t>para girar.</a:t>
            </a:r>
          </a:p>
        </p:txBody>
      </p:sp>
      <p:sp>
        <p:nvSpPr>
          <p:cNvPr id="4" name="contact-subtitle">
            <a:extLst xmlns:a="http://schemas.openxmlformats.org/drawingml/2006/main">
              <a:ext uri="{FF2B5EF4-FFF2-40B4-BE49-F238E27FC236}">
                <a16:creationId xmlns:a16="http://schemas.microsoft.com/office/drawing/2014/main" id="{8BACCDF8-8BDF-42C8-8FBC-967F0BB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733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F4F0E7"/>
                </a:solidFill>
                <a:latin typeface="IBM Plex Sans"/>
                <a:ea typeface="IBM Plex Sans"/>
                <a:cs typeface="IBM Plex Sans"/>
              </a:rPr>
              <a:t>Escolha uma conversa de mapeamento e descubra qual fluxo deve rodar primeiro.</a:t>
            </a:r>
          </a:p>
        </p:txBody>
      </p:sp>
      <p:sp>
        <p:nvSpPr>
          <p:cNvPr id="5" name="contact-rule">
            <a:extLst xmlns:a="http://schemas.openxmlformats.org/drawingml/2006/main">
              <a:ext uri="{FF2B5EF4-FFF2-40B4-BE49-F238E27FC236}">
                <a16:creationId xmlns:a16="http://schemas.microsoft.com/office/drawing/2014/main" id="{B8F35682-9168-483C-9BDA-821E81B4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tact-field-1">
            <a:extLst xmlns:a="http://schemas.openxmlformats.org/drawingml/2006/main">
              <a:ext uri="{FF2B5EF4-FFF2-40B4-BE49-F238E27FC236}">
                <a16:creationId xmlns:a16="http://schemas.microsoft.com/office/drawing/2014/main" id="{153460FA-9F8C-45B9-87C0-21972995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50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{{site}}</a:t>
            </a:r>
          </a:p>
        </p:txBody>
      </p:sp>
      <p:sp>
        <p:nvSpPr>
          <p:cNvPr id="7" name="contact-field-2">
            <a:extLst xmlns:a="http://schemas.openxmlformats.org/drawingml/2006/main">
              <a:ext uri="{FF2B5EF4-FFF2-40B4-BE49-F238E27FC236}">
                <a16:creationId xmlns:a16="http://schemas.microsoft.com/office/drawing/2014/main" id="{2A33C423-1244-425D-8DFE-697EEAAC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50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{{email_suporte}}</a:t>
            </a:r>
          </a:p>
        </p:txBody>
      </p:sp>
      <p:sp>
        <p:nvSpPr>
          <p:cNvPr id="8" name="contact-field-3">
            <a:extLst xmlns:a="http://schemas.openxmlformats.org/drawingml/2006/main">
              <a:ext uri="{FF2B5EF4-FFF2-40B4-BE49-F238E27FC236}">
                <a16:creationId xmlns:a16="http://schemas.microsoft.com/office/drawing/2014/main" id="{919A8BD7-34E2-42BF-81A4-41D463DB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543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50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{{telefone_suporte}}</a:t>
            </a:r>
          </a:p>
        </p:txBody>
      </p:sp>
      <p:sp>
        <p:nvSpPr>
          <p:cNvPr id="9" name="folio-label-9">
            <a:extLst xmlns:a="http://schemas.openxmlformats.org/drawingml/2006/main">
              <a:ext uri="{FF2B5EF4-FFF2-40B4-BE49-F238E27FC236}">
                <a16:creationId xmlns:a16="http://schemas.microsoft.com/office/drawing/2014/main" id="{54D9F463-4067-479D-80C1-96E82F5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GIRUMO · APRESENTAÇÃO COMERCIAL</a:t>
            </a:r>
          </a:p>
        </p:txBody>
      </p:sp>
      <p:sp>
        <p:nvSpPr>
          <p:cNvPr id="10" name="folio-number-9">
            <a:extLst xmlns:a="http://schemas.openxmlformats.org/drawingml/2006/main">
              <a:ext uri="{FF2B5EF4-FFF2-40B4-BE49-F238E27FC236}">
                <a16:creationId xmlns:a16="http://schemas.microsoft.com/office/drawing/2014/main" id="{DFD87514-C61F-480C-8BF1-F066FEE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defRPr>
            </a:pPr>
            <a:r>
              <a:rPr sz="1050" b="0">
                <a:solidFill>
                  <a:srgbClr val="FFFEFA"/>
                </a:solidFill>
                <a:latin typeface="IBM Plex Mono Medm"/>
                <a:ea typeface="IBM Plex Mono Medm"/>
                <a:cs typeface="IBM Plex Mono Medm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197494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2026-07-16T20:15:43.3310000Z</dcterms:created>
  <dcterms:modified xsi:type="dcterms:W3CDTF">2026-07-16T20:15:43.3310000Z</dcterms:modified>
</coreProperties>
</file>